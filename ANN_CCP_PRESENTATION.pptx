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eebo Light" pitchFamily="2" charset="-79"/>
      <p:regular r:id="rId13"/>
    </p:embeddedFont>
    <p:embeddedFont>
      <p:font typeface="Montserrat" pitchFamily="2" charset="0"/>
      <p:regular r:id="rId14"/>
      <p:bold r:id="rId15"/>
      <p:italic r:id="rId16"/>
      <p:boldItalic r:id="rId17"/>
    </p:embeddedFont>
    <p:embeddedFont>
      <p:font typeface="Montserrat Light" pitchFamily="2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51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96119" y="138097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Computing System for Handwritten Digit Recognition</a:t>
            </a:r>
            <a:endParaRPr lang="en-US" sz="2750" b="1" dirty="0"/>
          </a:p>
        </p:txBody>
      </p:sp>
      <p:sp>
        <p:nvSpPr>
          <p:cNvPr id="5" name="Text 2"/>
          <p:cNvSpPr/>
          <p:nvPr/>
        </p:nvSpPr>
        <p:spPr>
          <a:xfrm>
            <a:off x="496119" y="292253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Course: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Artificial Neural Network | BSAI F23 Red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30882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Izza Iqbal, Noor Bahu, Muhammad Omer Saeed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Submitted to: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Dr. Abid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185B41-1268-4B91-66B5-F6AF61CE5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75803"/>
            <a:ext cx="3425985" cy="2191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9397"/>
            <a:ext cx="52941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86744"/>
            <a:ext cx="221620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This Project?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209430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Goal: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Build a complete system to recognize handwritten digits from 0 to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89696"/>
            <a:ext cx="18485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Used: MNIST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5291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70,000 images of handwritten digits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image 28 × 28 pixels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60,000 for training, 10,000 for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86744"/>
            <a:ext cx="30402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Neural Models Implemented: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04995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Perceptron (1958) - Simple binary classifier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Adaline (1960) - Gradient descent learner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Kohonen SOM (1982) - Unsupervised clustering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MLP with Backpropagation (1986) - Deep learning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3265363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470895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344254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Point:</a:t>
            </a: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All models built from scratch using ONLY NumPy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8D88AF-A2EA-80BF-3E85-529E2C817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348" y="4676035"/>
            <a:ext cx="1905165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96119" y="471413"/>
            <a:ext cx="3923556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A - Perceptron Model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496119" y="888876"/>
            <a:ext cx="184167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Perceptron?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6119" y="1268388"/>
            <a:ext cx="2310185" cy="1865486"/>
          </a:xfrm>
          <a:prstGeom prst="roundRect">
            <a:avLst>
              <a:gd name="adj" fmla="val 271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57" y="1393627"/>
            <a:ext cx="361504" cy="36150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75" y="1493044"/>
            <a:ext cx="162669" cy="1626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1357" y="1857524"/>
            <a:ext cx="2059707" cy="376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Inspired by Biological Neuron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21357" y="2295451"/>
            <a:ext cx="20597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Inputs receive signals like dendrites, weights act like synapses, summation happens in soma, output fires through axon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08697" y="1268388"/>
            <a:ext cx="2310185" cy="1865486"/>
          </a:xfrm>
          <a:prstGeom prst="roundRect">
            <a:avLst>
              <a:gd name="adj" fmla="val 271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936" y="1393627"/>
            <a:ext cx="361504" cy="36150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3353" y="1493044"/>
            <a:ext cx="162669" cy="1626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033936" y="185752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Mathematics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3033936" y="2107183"/>
            <a:ext cx="205970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Net input = sum of (weight × input) + bias. Output = +1 if net input ≥ 0, Output = -1 if net input &lt; 0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496119" y="3236268"/>
            <a:ext cx="4722763" cy="1142330"/>
          </a:xfrm>
          <a:prstGeom prst="roundRect">
            <a:avLst>
              <a:gd name="adj" fmla="val 4431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57" y="3361506"/>
            <a:ext cx="361504" cy="361504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775" y="3460924"/>
            <a:ext cx="162669" cy="16266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21357" y="382540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Rule</a:t>
            </a:r>
            <a:endParaRPr lang="en-US" sz="1150" dirty="0"/>
          </a:p>
        </p:txBody>
      </p:sp>
      <p:sp>
        <p:nvSpPr>
          <p:cNvPr id="20" name="Text 11"/>
          <p:cNvSpPr/>
          <p:nvPr/>
        </p:nvSpPr>
        <p:spPr>
          <a:xfrm>
            <a:off x="621357" y="4075063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New weight = old weight + learning rate × (target - prediction) × input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496119" y="4493791"/>
            <a:ext cx="4722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 We Trained:</a:t>
            </a: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Digits 0 versus 1 | </a:t>
            </a:r>
            <a:r>
              <a:rPr lang="en-US" sz="9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Result:</a:t>
            </a: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9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100% accuracy</a:t>
            </a: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achieved in only 6 epochs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F4BB51-E1AB-6976-D8B3-8141A43328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1" y="1393628"/>
            <a:ext cx="3429000" cy="23293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6795"/>
            <a:ext cx="563545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Limitation - XOR Problem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64257"/>
            <a:ext cx="353102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Perceptron Cannot Do Everything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6119" y="144616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XOR Truth Table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6119" y="1749623"/>
            <a:ext cx="3928914" cy="1562546"/>
          </a:xfrm>
          <a:prstGeom prst="roundRect">
            <a:avLst>
              <a:gd name="adj" fmla="val 323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0881" y="1754386"/>
            <a:ext cx="3918942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953" y="1820540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0450" y="1820540"/>
            <a:ext cx="1060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6565" y="1820540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0881" y="2064990"/>
            <a:ext cx="3918942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953" y="2131144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30450" y="2131144"/>
            <a:ext cx="1060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36565" y="2131144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0881" y="2375595"/>
            <a:ext cx="3918942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953" y="2441749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30450" y="2441749"/>
            <a:ext cx="1060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36565" y="2441749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0881" y="2686199"/>
            <a:ext cx="3918942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953" y="2752353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30450" y="2752353"/>
            <a:ext cx="1060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36565" y="2752353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881" y="2996803"/>
            <a:ext cx="3918942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953" y="3062957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30450" y="3062957"/>
            <a:ext cx="10604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+1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36565" y="3062957"/>
            <a:ext cx="1062782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23730" y="144616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23730" y="1736824"/>
            <a:ext cx="392891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single straight line can separate these four points. Try drawing any line - you will always misclassify at least one point.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6119" y="3542556"/>
            <a:ext cx="2648992" cy="1054075"/>
          </a:xfrm>
          <a:prstGeom prst="roundRect">
            <a:avLst>
              <a:gd name="adj" fmla="val 6506"/>
            </a:avLst>
          </a:prstGeom>
          <a:solidFill>
            <a:srgbClr val="0D0A2C">
              <a:alpha val="95000"/>
            </a:srgbClr>
          </a:solidFill>
          <a:ln w="14288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3542556"/>
            <a:ext cx="57150" cy="105407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73745" y="367732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Mathematical Proof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73745" y="3926979"/>
            <a:ext cx="2336602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Assume a linear boundary exists, write equations for all four points, you get a contradiction - therefore no solution exists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47504" y="3542556"/>
            <a:ext cx="2648992" cy="1054075"/>
          </a:xfrm>
          <a:prstGeom prst="roundRect">
            <a:avLst>
              <a:gd name="adj" fmla="val 6506"/>
            </a:avLst>
          </a:prstGeom>
          <a:solidFill>
            <a:srgbClr val="0D0A2C">
              <a:alpha val="95000"/>
            </a:srgbClr>
          </a:solidFill>
          <a:ln w="14288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17" y="3542556"/>
            <a:ext cx="57150" cy="105407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425130" y="367732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3425130" y="3926979"/>
            <a:ext cx="2336602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Perceptron got only </a:t>
            </a:r>
            <a:r>
              <a:rPr lang="en-US" sz="9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50% accuracy</a:t>
            </a: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on XOR - that is random guessing!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998890" y="3542556"/>
            <a:ext cx="2648992" cy="1054075"/>
          </a:xfrm>
          <a:prstGeom prst="roundRect">
            <a:avLst>
              <a:gd name="adj" fmla="val 6506"/>
            </a:avLst>
          </a:prstGeom>
          <a:solidFill>
            <a:srgbClr val="0D0A2C">
              <a:alpha val="95000"/>
            </a:srgbClr>
          </a:solidFill>
          <a:ln w="14288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602" y="3542556"/>
            <a:ext cx="57150" cy="105407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176516" y="367732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6176516" y="3926979"/>
            <a:ext cx="2336602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Single-layer networks cannot solve non-linear problems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A19675C-21ED-43BD-742E-86D083D1E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348" y="4676035"/>
            <a:ext cx="1905165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496"/>
            <a:ext cx="439310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B - Adaline and Delta Rule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791096"/>
            <a:ext cx="170118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Adaline?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139726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Adaline = Adaptive Linear Neuron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7634"/>
            <a:ext cx="2717229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26" y="1949351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Activation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526" y="2180927"/>
            <a:ext cx="2490415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Uses linear activation during training instead of step function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427634"/>
            <a:ext cx="2717229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6755" y="1949351"/>
            <a:ext cx="145628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Updates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326755" y="2180927"/>
            <a:ext cx="2490415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Updates weights on EVERY sample, not just misclassified ones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427634"/>
            <a:ext cx="2717229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3985" y="1949351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Descent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043985" y="2180927"/>
            <a:ext cx="2490415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Minimizes Mean Squared Error using gradient descent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96119" y="2756892"/>
            <a:ext cx="351636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Delta Rule Derivation (Simple Words)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96119" y="3105522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283967"/>
            <a:ext cx="4030489" cy="142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6119" y="3369246"/>
            <a:ext cx="403048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Define error = half of sum of squared differences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617318" y="3105522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318" y="3283967"/>
            <a:ext cx="4030563" cy="142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17318" y="3369246"/>
            <a:ext cx="40305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Take derivative using chain rule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496119" y="3708276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875410"/>
            <a:ext cx="4030489" cy="142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6119" y="3971999"/>
            <a:ext cx="403048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Result is negative of (target - prediction) times input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4617318" y="3708276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8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318" y="3875410"/>
            <a:ext cx="4030563" cy="142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617318" y="3971999"/>
            <a:ext cx="40305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Apply gradient descent to update weights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496119" y="4299719"/>
            <a:ext cx="8151763" cy="420663"/>
          </a:xfrm>
          <a:prstGeom prst="roundRect">
            <a:avLst>
              <a:gd name="adj" fmla="val 1132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26" y="4456509"/>
            <a:ext cx="141759" cy="113407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64691" y="4441403"/>
            <a:ext cx="766978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Final Formula:</a:t>
            </a:r>
            <a:r>
              <a:rPr lang="en-US" sz="8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Change in weight = learning rate × (target - prediction) × input. This is called the </a:t>
            </a:r>
            <a:r>
              <a:rPr lang="en-US" sz="85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Widrow-Hoff learning rule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212AFA3-FF7A-A806-2BD9-6557472630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7348" y="4774927"/>
            <a:ext cx="1905165" cy="335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96119" y="436811"/>
            <a:ext cx="3688482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Adaline - Learning Rate Analysis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96119" y="748680"/>
            <a:ext cx="318685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Happens with Different Learning Rates?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011213"/>
            <a:ext cx="4722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Learning rate controls how fast the model learns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496119" y="1200150"/>
            <a:ext cx="4722763" cy="647254"/>
          </a:xfrm>
          <a:prstGeom prst="roundRect">
            <a:avLst>
              <a:gd name="adj" fmla="val 5979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5644" y="1209675"/>
            <a:ext cx="368573" cy="628204"/>
          </a:xfrm>
          <a:prstGeom prst="roundRect">
            <a:avLst>
              <a:gd name="adj" fmla="val 7399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55" y="1454646"/>
            <a:ext cx="138187" cy="1381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4045" y="130180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0.0001 - Very Slow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34045" y="1481658"/>
            <a:ext cx="4183187" cy="26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Takes many epochs to converge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Very stable but inefficient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496119" y="1907232"/>
            <a:ext cx="4722763" cy="789756"/>
          </a:xfrm>
          <a:prstGeom prst="roundRect">
            <a:avLst>
              <a:gd name="adj" fmla="val 490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05644" y="1916757"/>
            <a:ext cx="368573" cy="770706"/>
          </a:xfrm>
          <a:prstGeom prst="roundRect">
            <a:avLst>
              <a:gd name="adj" fmla="val 7399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55" y="2233017"/>
            <a:ext cx="138187" cy="1381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4045" y="2008882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0.001 - Optimal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34045" y="2188741"/>
            <a:ext cx="4183187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Best balance of speed and stability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Smooth convergence to minimum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IS WHAT WE RECOMMEND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496119" y="2756818"/>
            <a:ext cx="4722763" cy="789756"/>
          </a:xfrm>
          <a:prstGeom prst="roundRect">
            <a:avLst>
              <a:gd name="adj" fmla="val 490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05644" y="2766343"/>
            <a:ext cx="368573" cy="770706"/>
          </a:xfrm>
          <a:prstGeom prst="roundRect">
            <a:avLst>
              <a:gd name="adj" fmla="val 7399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55" y="3082603"/>
            <a:ext cx="138187" cy="1381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4045" y="285846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0.01 - Fast but Risky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34045" y="3038326"/>
            <a:ext cx="4183187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Converges quickly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Shows small oscillations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May overshoot the minimum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96119" y="3606403"/>
            <a:ext cx="4722763" cy="789756"/>
          </a:xfrm>
          <a:prstGeom prst="roundRect">
            <a:avLst>
              <a:gd name="adj" fmla="val 490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05644" y="3615928"/>
            <a:ext cx="368573" cy="770706"/>
          </a:xfrm>
          <a:prstGeom prst="roundRect">
            <a:avLst>
              <a:gd name="adj" fmla="val 7399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455" y="3932188"/>
            <a:ext cx="138187" cy="1381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4045" y="3708053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0.1 - Too Fast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34045" y="3887912"/>
            <a:ext cx="4183187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Very unstable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May diverge completely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 RECOMMENDED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496119" y="4463504"/>
            <a:ext cx="472276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Visualization:</a:t>
            </a: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The 3D plot shows loss surface as a convex bowl. Red path shows gradient descent moving downhill. We start at random weights and reach the minimum.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DE79DA-0AD5-9943-04F5-56B299297A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1301800"/>
            <a:ext cx="3429000" cy="2550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17379" y="422597"/>
            <a:ext cx="4738241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C - Kohonen Self-Organizing Map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3917379" y="1155427"/>
            <a:ext cx="16746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SOM?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917379" y="1496541"/>
            <a:ext cx="4738241" cy="15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Unsupervised Learning - No labels needed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17379" y="1842939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17379" y="2105174"/>
            <a:ext cx="2232943" cy="85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layer: 784 neurons (one for each pixel)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Grid: 12 × 12 = 144 neurons arranged in 2D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neuron has its own weight vector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27440" y="1842939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Process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27440" y="2105174"/>
            <a:ext cx="2232943" cy="69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the Best Matching Unit (BMU)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the BMU and its neighbors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BMU learns the most, nearby neurons learn a little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042916" y="3094360"/>
            <a:ext cx="14288" cy="1626468"/>
          </a:xfrm>
          <a:prstGeom prst="roundRect">
            <a:avLst>
              <a:gd name="adj" fmla="val 32817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154202" y="3212753"/>
            <a:ext cx="334863" cy="14288"/>
          </a:xfrm>
          <a:prstGeom prst="roundRect">
            <a:avLst>
              <a:gd name="adj" fmla="val 32817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917342" y="3094360"/>
            <a:ext cx="251147" cy="251147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59163" y="311523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01170" y="3132683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Find BMU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01170" y="3359721"/>
            <a:ext cx="4054450" cy="15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BMU = neuron whose weights are most similar to input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54202" y="3813497"/>
            <a:ext cx="334863" cy="14288"/>
          </a:xfrm>
          <a:prstGeom prst="roundRect">
            <a:avLst>
              <a:gd name="adj" fmla="val 32817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17342" y="3695105"/>
            <a:ext cx="251147" cy="251147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59163" y="3715978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01170" y="3733428"/>
            <a:ext cx="1788468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Update Neighbors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01170" y="3960465"/>
            <a:ext cx="4054450" cy="15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BMU learns the most, nearby neurons learn a little, far neurons do not learn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154202" y="4414242"/>
            <a:ext cx="334863" cy="14288"/>
          </a:xfrm>
          <a:prstGeom prst="roundRect">
            <a:avLst>
              <a:gd name="adj" fmla="val 32817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917342" y="4295849"/>
            <a:ext cx="251147" cy="251147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959163" y="431672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01170" y="4334173"/>
            <a:ext cx="150465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Decaying Parameters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601170" y="4561210"/>
            <a:ext cx="4054450" cy="15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Learning rate and neighborhood radius decrease over time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0A21B2E-8441-EFBF-CA4C-567F11EF7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348" y="4783335"/>
            <a:ext cx="1905165" cy="3270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9B9B804-DDF0-9ECD-91F6-06C296FF6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81" y="950496"/>
            <a:ext cx="3452416" cy="32605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840" y="328017"/>
            <a:ext cx="2972246" cy="23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 Visualizations and 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10840" y="582885"/>
            <a:ext cx="1424211" cy="14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SOM Shows Us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0840" y="1871737"/>
            <a:ext cx="103896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U-Matrix Visualization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10840" y="2015579"/>
            <a:ext cx="2739851" cy="18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Dark areas = clusters of similar digits, bright lines = boundaries between different digits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3202037" y="1871737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Maps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202037" y="2015579"/>
            <a:ext cx="2739851" cy="18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neuron's weights reshaped to 28×28 image, shows what digit pattern that neuron represents</a:t>
            </a:r>
            <a:endParaRPr lang="en-US" sz="600" dirty="0"/>
          </a:p>
        </p:txBody>
      </p:sp>
      <p:sp>
        <p:nvSpPr>
          <p:cNvPr id="11" name="Text 6"/>
          <p:cNvSpPr/>
          <p:nvPr/>
        </p:nvSpPr>
        <p:spPr>
          <a:xfrm>
            <a:off x="5993234" y="1871811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Hit Maps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5993234" y="2015654"/>
            <a:ext cx="2739926" cy="18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Color coded grid, each color represents a different digit, shows which digit activates which neuron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410840" y="2264941"/>
            <a:ext cx="1722388" cy="14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Metrics We Computed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34517" y="2507679"/>
            <a:ext cx="268805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0.25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2001664" y="2828404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Quantization Error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410840" y="2972246"/>
            <a:ext cx="4135487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Measures how well inputs map to neurons. Lower is better.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5321350" y="2507679"/>
            <a:ext cx="268805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4.12%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6188497" y="2828404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Topographic Error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597673" y="2972246"/>
            <a:ext cx="4135487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Measures if nearby inputs map to nearby neurons. Lower is better.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410840" y="3127697"/>
            <a:ext cx="1144637" cy="14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10840" y="3332336"/>
            <a:ext cx="8322320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set threshold at 95th percentile of error. Normal digits have low error, corrupted digits have high error.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2009254" y="3968353"/>
            <a:ext cx="93858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265" y="3491433"/>
            <a:ext cx="1144637" cy="11446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01664" y="4696197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6196087" y="3968353"/>
            <a:ext cx="93858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098" y="3491433"/>
            <a:ext cx="1144637" cy="11446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88497" y="4696197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B6A2B6-CC05-E535-601A-C08071A17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348" y="4676035"/>
            <a:ext cx="1905165" cy="4343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4C3E9B-CD80-6356-0F10-D3F6FBE8CF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29" y="904433"/>
            <a:ext cx="992578" cy="9056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D5A621-3C99-5CA5-055B-20E7EF6FF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656" y="808239"/>
            <a:ext cx="953840" cy="9979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A3F9C56-95CA-6496-0C9B-317304363A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 flipV="1">
            <a:off x="6068177" y="839547"/>
            <a:ext cx="1066495" cy="949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996"/>
            <a:ext cx="3531394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D - Backpropagation MLP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29866"/>
            <a:ext cx="222356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Multi-Layer Perceptron?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152227"/>
            <a:ext cx="206930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Architecture: 784 → 128 → 64 →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1356047"/>
            <a:ext cx="3963516" cy="54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Input: 784 pixels from the image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Hidden Layer 1: 128 neurons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Hidden Layer 2: 64 neurons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Output: 10 neurons (one for each digit 0 to 9)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689128" y="115222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89128" y="1356047"/>
            <a:ext cx="3963516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moves through hidden layers, each layer multiplies by weights and adds bias, ReLU activation function applied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96119" y="2015877"/>
            <a:ext cx="2736279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Backward Pass (How learning happens)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54784"/>
            <a:ext cx="2677344" cy="7143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8243" y="2890986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Error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8243" y="3070845"/>
            <a:ext cx="249309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 error at output layer</a:t>
            </a:r>
            <a:endParaRPr lang="en-US" sz="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91" y="2416597"/>
            <a:ext cx="2677344" cy="7143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25416" y="2752799"/>
            <a:ext cx="1207368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Propagate Backward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25416" y="2932658"/>
            <a:ext cx="249309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Propagate error backward using chain rule</a:t>
            </a:r>
            <a:endParaRPr lang="en-US" sz="7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463" y="2278410"/>
            <a:ext cx="2677418" cy="7143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62588" y="2614613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Weights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062588" y="2794471"/>
            <a:ext cx="249316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all weights in the network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96119" y="3374380"/>
            <a:ext cx="2234803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Activation Function Comparison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6119" y="3636913"/>
            <a:ext cx="2677344" cy="616818"/>
          </a:xfrm>
          <a:prstGeom prst="roundRect">
            <a:avLst>
              <a:gd name="adj" fmla="val 627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93006" y="373380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Sigmoid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93006" y="3913659"/>
            <a:ext cx="248356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Derivative is very small - vanishes for large inputs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3233291" y="3636913"/>
            <a:ext cx="2677344" cy="616818"/>
          </a:xfrm>
          <a:prstGeom prst="roundRect">
            <a:avLst>
              <a:gd name="adj" fmla="val 627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330178" y="373380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Tanh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30178" y="3913659"/>
            <a:ext cx="248356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Better than sigmoid but still saturates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5970463" y="3636913"/>
            <a:ext cx="2677418" cy="616818"/>
          </a:xfrm>
          <a:prstGeom prst="roundRect">
            <a:avLst>
              <a:gd name="adj" fmla="val 627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067351" y="373380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ReLU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067351" y="3913659"/>
            <a:ext cx="248364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vanishing gradient - simply zero for negatives, identity for positives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496119" y="4321076"/>
            <a:ext cx="8151763" cy="304354"/>
          </a:xfrm>
          <a:prstGeom prst="roundRect">
            <a:avLst>
              <a:gd name="adj" fmla="val 12716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3" y="4441254"/>
            <a:ext cx="115119" cy="921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95486" y="4403899"/>
            <a:ext cx="776027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chose ReLU because it works best</a:t>
            </a:r>
            <a:endParaRPr lang="en-US" sz="7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B12D18-1223-E167-79C9-5707B7F6D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7348" y="4676035"/>
            <a:ext cx="1905165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250"/>
            <a:ext cx="3902646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Results, Comparison &amp; 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61120"/>
            <a:ext cx="2148111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Results of All Four Models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261839"/>
            <a:ext cx="4045967" cy="790873"/>
          </a:xfrm>
          <a:prstGeom prst="roundRect">
            <a:avLst>
              <a:gd name="adj" fmla="val 578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2314"/>
            <a:ext cx="4045967" cy="381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878" y="1123652"/>
            <a:ext cx="276374" cy="27637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3775" y="1206550"/>
            <a:ext cx="110505" cy="1105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7768" y="1492151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97768" y="1672010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Binary classification: </a:t>
            </a:r>
            <a:r>
              <a:rPr lang="en-US" sz="7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100% accuracy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597768" y="1829470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XOR problem: Only 50% (failed)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4601914" y="1261839"/>
            <a:ext cx="4045967" cy="790873"/>
          </a:xfrm>
          <a:prstGeom prst="roundRect">
            <a:avLst>
              <a:gd name="adj" fmla="val 578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914" y="1252314"/>
            <a:ext cx="4045967" cy="381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674" y="1123652"/>
            <a:ext cx="276374" cy="27637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9571" y="1206550"/>
            <a:ext cx="110505" cy="11050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03564" y="1492151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Adaline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4703564" y="1672010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Successfully learned using gradient descent</a:t>
            </a:r>
            <a:endParaRPr lang="en-US" sz="700" dirty="0"/>
          </a:p>
        </p:txBody>
      </p:sp>
      <p:sp>
        <p:nvSpPr>
          <p:cNvPr id="17" name="Text 9"/>
          <p:cNvSpPr/>
          <p:nvPr/>
        </p:nvSpPr>
        <p:spPr>
          <a:xfrm>
            <a:off x="4703564" y="1829470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Optimal learning rate found: 0.001</a:t>
            </a:r>
            <a:endParaRPr lang="en-US" sz="700" dirty="0"/>
          </a:p>
        </p:txBody>
      </p:sp>
      <p:sp>
        <p:nvSpPr>
          <p:cNvPr id="18" name="Shape 10"/>
          <p:cNvSpPr/>
          <p:nvPr/>
        </p:nvSpPr>
        <p:spPr>
          <a:xfrm>
            <a:off x="496119" y="2250728"/>
            <a:ext cx="4045967" cy="948333"/>
          </a:xfrm>
          <a:prstGeom prst="roundRect">
            <a:avLst>
              <a:gd name="adj" fmla="val 482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41203"/>
            <a:ext cx="4045967" cy="3810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878" y="2112541"/>
            <a:ext cx="276374" cy="276374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3775" y="2195438"/>
            <a:ext cx="110505" cy="11050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97768" y="2481039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Kohonen SOM</a:t>
            </a:r>
            <a:endParaRPr lang="en-US" sz="900" dirty="0"/>
          </a:p>
        </p:txBody>
      </p:sp>
      <p:sp>
        <p:nvSpPr>
          <p:cNvPr id="23" name="Text 12"/>
          <p:cNvSpPr/>
          <p:nvPr/>
        </p:nvSpPr>
        <p:spPr>
          <a:xfrm>
            <a:off x="597768" y="2660898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Quantization Error: 0.25</a:t>
            </a:r>
            <a:endParaRPr lang="en-US" sz="700" dirty="0"/>
          </a:p>
        </p:txBody>
      </p:sp>
      <p:sp>
        <p:nvSpPr>
          <p:cNvPr id="24" name="Text 13"/>
          <p:cNvSpPr/>
          <p:nvPr/>
        </p:nvSpPr>
        <p:spPr>
          <a:xfrm>
            <a:off x="597768" y="2818358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Topographic Error: 4.12%</a:t>
            </a:r>
            <a:endParaRPr lang="en-US" sz="700" dirty="0"/>
          </a:p>
        </p:txBody>
      </p:sp>
      <p:sp>
        <p:nvSpPr>
          <p:cNvPr id="25" name="Text 14"/>
          <p:cNvSpPr/>
          <p:nvPr/>
        </p:nvSpPr>
        <p:spPr>
          <a:xfrm>
            <a:off x="597768" y="2975818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Anomaly detection F1-score: 86%</a:t>
            </a:r>
            <a:endParaRPr lang="en-US" sz="700" dirty="0"/>
          </a:p>
        </p:txBody>
      </p:sp>
      <p:sp>
        <p:nvSpPr>
          <p:cNvPr id="26" name="Shape 15"/>
          <p:cNvSpPr/>
          <p:nvPr/>
        </p:nvSpPr>
        <p:spPr>
          <a:xfrm>
            <a:off x="4601914" y="2250728"/>
            <a:ext cx="4045967" cy="948333"/>
          </a:xfrm>
          <a:prstGeom prst="roundRect">
            <a:avLst>
              <a:gd name="adj" fmla="val 4821"/>
            </a:avLst>
          </a:prstGeom>
          <a:solidFill>
            <a:srgbClr val="0D0A2C">
              <a:alpha val="95000"/>
            </a:srgbClr>
          </a:solidFill>
          <a:ln w="9525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914" y="2241203"/>
            <a:ext cx="4045967" cy="381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674" y="2112541"/>
            <a:ext cx="276374" cy="276374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9571" y="2195438"/>
            <a:ext cx="110505" cy="1105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4703564" y="2481039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MLP</a:t>
            </a:r>
            <a:endParaRPr lang="en-US" sz="900" dirty="0"/>
          </a:p>
        </p:txBody>
      </p:sp>
      <p:sp>
        <p:nvSpPr>
          <p:cNvPr id="31" name="Text 17"/>
          <p:cNvSpPr/>
          <p:nvPr/>
        </p:nvSpPr>
        <p:spPr>
          <a:xfrm>
            <a:off x="4703564" y="2660898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Final test accuracy: </a:t>
            </a:r>
            <a:r>
              <a:rPr lang="en-US" sz="7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98.48%</a:t>
            </a:r>
            <a:endParaRPr lang="en-US" sz="700" dirty="0"/>
          </a:p>
        </p:txBody>
      </p:sp>
      <p:sp>
        <p:nvSpPr>
          <p:cNvPr id="32" name="Text 18"/>
          <p:cNvSpPr/>
          <p:nvPr/>
        </p:nvSpPr>
        <p:spPr>
          <a:xfrm>
            <a:off x="4703564" y="2818358"/>
            <a:ext cx="38426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Exceeded our target of 95%</a:t>
            </a:r>
            <a:endParaRPr lang="en-US" sz="700" dirty="0"/>
          </a:p>
        </p:txBody>
      </p:sp>
      <p:sp>
        <p:nvSpPr>
          <p:cNvPr id="33" name="Text 19"/>
          <p:cNvSpPr/>
          <p:nvPr/>
        </p:nvSpPr>
        <p:spPr>
          <a:xfrm>
            <a:off x="496119" y="3288878"/>
            <a:ext cx="138216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Comparison</a:t>
            </a:r>
            <a:endParaRPr lang="en-US" sz="1050" dirty="0"/>
          </a:p>
        </p:txBody>
      </p:sp>
      <p:sp>
        <p:nvSpPr>
          <p:cNvPr id="34" name="Shape 20"/>
          <p:cNvSpPr/>
          <p:nvPr/>
        </p:nvSpPr>
        <p:spPr>
          <a:xfrm>
            <a:off x="496119" y="3551411"/>
            <a:ext cx="8151763" cy="1042839"/>
          </a:xfrm>
          <a:prstGeom prst="roundRect">
            <a:avLst>
              <a:gd name="adj" fmla="val 371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1"/>
          <p:cNvSpPr/>
          <p:nvPr/>
        </p:nvSpPr>
        <p:spPr>
          <a:xfrm>
            <a:off x="593899" y="3596804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</a:t>
            </a:r>
            <a:endParaRPr lang="en-US" sz="700" dirty="0"/>
          </a:p>
        </p:txBody>
      </p:sp>
      <p:sp>
        <p:nvSpPr>
          <p:cNvPr id="36" name="Text 22"/>
          <p:cNvSpPr/>
          <p:nvPr/>
        </p:nvSpPr>
        <p:spPr>
          <a:xfrm>
            <a:off x="3309789" y="3596804"/>
            <a:ext cx="252449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Strengths</a:t>
            </a:r>
            <a:endParaRPr lang="en-US" sz="700" dirty="0"/>
          </a:p>
        </p:txBody>
      </p:sp>
      <p:sp>
        <p:nvSpPr>
          <p:cNvPr id="37" name="Text 23"/>
          <p:cNvSpPr/>
          <p:nvPr/>
        </p:nvSpPr>
        <p:spPr>
          <a:xfrm>
            <a:off x="6023297" y="3596804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Weaknesses</a:t>
            </a:r>
            <a:endParaRPr lang="en-US" sz="700" dirty="0"/>
          </a:p>
        </p:txBody>
      </p:sp>
      <p:sp>
        <p:nvSpPr>
          <p:cNvPr id="38" name="Text 24"/>
          <p:cNvSpPr/>
          <p:nvPr/>
        </p:nvSpPr>
        <p:spPr>
          <a:xfrm>
            <a:off x="593899" y="3804419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Perceptron</a:t>
            </a:r>
            <a:endParaRPr lang="en-US" sz="700" dirty="0"/>
          </a:p>
        </p:txBody>
      </p:sp>
      <p:sp>
        <p:nvSpPr>
          <p:cNvPr id="39" name="Text 25"/>
          <p:cNvSpPr/>
          <p:nvPr/>
        </p:nvSpPr>
        <p:spPr>
          <a:xfrm>
            <a:off x="3309789" y="3804419"/>
            <a:ext cx="252449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Simple, fast</a:t>
            </a:r>
            <a:endParaRPr lang="en-US" sz="700" dirty="0"/>
          </a:p>
        </p:txBody>
      </p:sp>
      <p:sp>
        <p:nvSpPr>
          <p:cNvPr id="40" name="Text 26"/>
          <p:cNvSpPr/>
          <p:nvPr/>
        </p:nvSpPr>
        <p:spPr>
          <a:xfrm>
            <a:off x="6023297" y="3804419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Only linear problems</a:t>
            </a:r>
            <a:endParaRPr lang="en-US" sz="700" dirty="0"/>
          </a:p>
        </p:txBody>
      </p:sp>
      <p:sp>
        <p:nvSpPr>
          <p:cNvPr id="41" name="Text 27"/>
          <p:cNvSpPr/>
          <p:nvPr/>
        </p:nvSpPr>
        <p:spPr>
          <a:xfrm>
            <a:off x="593899" y="4012034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Adaline</a:t>
            </a:r>
            <a:endParaRPr lang="en-US" sz="700" dirty="0"/>
          </a:p>
        </p:txBody>
      </p:sp>
      <p:sp>
        <p:nvSpPr>
          <p:cNvPr id="42" name="Text 28"/>
          <p:cNvSpPr/>
          <p:nvPr/>
        </p:nvSpPr>
        <p:spPr>
          <a:xfrm>
            <a:off x="3309789" y="4012034"/>
            <a:ext cx="252449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Gradient descent, smooth</a:t>
            </a:r>
            <a:endParaRPr lang="en-US" sz="700" dirty="0"/>
          </a:p>
        </p:txBody>
      </p:sp>
      <p:sp>
        <p:nvSpPr>
          <p:cNvPr id="43" name="Text 29"/>
          <p:cNvSpPr/>
          <p:nvPr/>
        </p:nvSpPr>
        <p:spPr>
          <a:xfrm>
            <a:off x="6023297" y="4012034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Still single layer</a:t>
            </a:r>
            <a:endParaRPr lang="en-US" sz="700" dirty="0"/>
          </a:p>
        </p:txBody>
      </p:sp>
      <p:sp>
        <p:nvSpPr>
          <p:cNvPr id="44" name="Text 30"/>
          <p:cNvSpPr/>
          <p:nvPr/>
        </p:nvSpPr>
        <p:spPr>
          <a:xfrm>
            <a:off x="593899" y="4219649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SOM</a:t>
            </a:r>
            <a:endParaRPr lang="en-US" sz="700" dirty="0"/>
          </a:p>
        </p:txBody>
      </p:sp>
      <p:sp>
        <p:nvSpPr>
          <p:cNvPr id="45" name="Text 31"/>
          <p:cNvSpPr/>
          <p:nvPr/>
        </p:nvSpPr>
        <p:spPr>
          <a:xfrm>
            <a:off x="3309789" y="4219649"/>
            <a:ext cx="252449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Unsupervised, topology</a:t>
            </a:r>
            <a:endParaRPr lang="en-US" sz="700" dirty="0"/>
          </a:p>
        </p:txBody>
      </p:sp>
      <p:sp>
        <p:nvSpPr>
          <p:cNvPr id="46" name="Text 32"/>
          <p:cNvSpPr/>
          <p:nvPr/>
        </p:nvSpPr>
        <p:spPr>
          <a:xfrm>
            <a:off x="6023297" y="4219649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explicit loss</a:t>
            </a:r>
            <a:endParaRPr lang="en-US" sz="700" dirty="0"/>
          </a:p>
        </p:txBody>
      </p:sp>
      <p:sp>
        <p:nvSpPr>
          <p:cNvPr id="47" name="Text 33"/>
          <p:cNvSpPr/>
          <p:nvPr/>
        </p:nvSpPr>
        <p:spPr>
          <a:xfrm>
            <a:off x="593899" y="4427265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MLP</a:t>
            </a:r>
            <a:endParaRPr lang="en-US" sz="700" dirty="0"/>
          </a:p>
        </p:txBody>
      </p:sp>
      <p:sp>
        <p:nvSpPr>
          <p:cNvPr id="48" name="Text 34"/>
          <p:cNvSpPr/>
          <p:nvPr/>
        </p:nvSpPr>
        <p:spPr>
          <a:xfrm>
            <a:off x="3309789" y="4427265"/>
            <a:ext cx="252449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Universal approximation</a:t>
            </a:r>
            <a:endParaRPr lang="en-US" sz="700" dirty="0"/>
          </a:p>
        </p:txBody>
      </p:sp>
      <p:sp>
        <p:nvSpPr>
          <p:cNvPr id="49" name="Text 35"/>
          <p:cNvSpPr/>
          <p:nvPr/>
        </p:nvSpPr>
        <p:spPr>
          <a:xfrm>
            <a:off x="6023297" y="4427265"/>
            <a:ext cx="252687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Needs more data and time</a:t>
            </a:r>
            <a:endParaRPr lang="en-US" sz="7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284CB37-9520-09D3-729D-1BC5E2AE4B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7348" y="4676035"/>
            <a:ext cx="1905165" cy="434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1075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Montserrat Light</vt:lpstr>
      <vt:lpstr>Montserrat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IZZA IQBAL</dc:creator>
  <cp:lastModifiedBy>Izza Iqbal</cp:lastModifiedBy>
  <cp:revision>3</cp:revision>
  <dcterms:created xsi:type="dcterms:W3CDTF">2026-05-08T14:55:28Z</dcterms:created>
  <dcterms:modified xsi:type="dcterms:W3CDTF">2026-05-08T17:01:27Z</dcterms:modified>
</cp:coreProperties>
</file>